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1645920" cy="411480"/>
          </a:xfrm>
          <a:prstGeom prst="rect">
            <a:avLst/>
          </a:prstGeom>
          <a:solidFill>
            <a:srgbClr val="24A17B"/>
          </a:solidFill>
          <a:ln w="12700">
            <a:solidFill>
              <a:srgbClr val="24A1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ReCircuit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Electronics Recovery, Modular Component Salvage &amp; Recycler Matching Platform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3657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931920"/>
            <a:ext cx="10698480" cy="2286000"/>
          </a:xfrm>
          <a:prstGeom prst="roundRect">
            <a:avLst>
              <a:gd name="adj" fmla="val 6000"/>
            </a:avLst>
          </a:prstGeom>
          <a:solidFill>
            <a:srgbClr val="14453D"/>
          </a:solidFill>
          <a:ln w="19050">
            <a:solidFill>
              <a:srgbClr val="24A1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20624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PERN Stack (PostgreSQL • Express.js • React 19 • Node.js) + Tailwind v4 + AI Diagnostic Engine
</a:t>
            </a:r>
            <a:pPr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Domain: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Computing • Circular Economy • Geospatial Proximity Matching • E-Waste Divergence
</a:t>
            </a:r>
            <a:pPr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Year Major Project Defense &amp; System Architecture Review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&amp; 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11680" cy="54864"/>
          </a:xfrm>
          <a:prstGeom prst="rect">
            <a:avLst/>
          </a:prstGeom>
          <a:solidFill>
            <a:srgbClr val="24A17B"/>
          </a:solidFill>
          <a:ln w="12700">
            <a:solidFill>
              <a:srgbClr val="24A1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3337560" cy="45720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3337560" cy="13716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57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Circular Vision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2788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Modern electronics face severe linear obsolescence ("take-make-dispose").
</a:t>
            </a:r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ReCircuit transforms e-waste management into an intelligent, closed-loop circular economy.
</a:t>
            </a:r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Enables transparent hardware condition diagnostics, direct consumer listing, and trusted transactions.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337560" cy="45720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737360"/>
            <a:ext cx="3337560" cy="137160"/>
          </a:xfrm>
          <a:prstGeom prst="rect">
            <a:avLst/>
          </a:prstGeom>
          <a:solidFill>
            <a:srgbClr val="24A17B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057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A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Dual-Level Diagnostics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2651760"/>
            <a:ext cx="2788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Device-Level Scoring: Branching rule-based questionnaire maps health to 4 outcomes: Reuse, Resell, Refurbish, Recycle.
</a:t>
            </a:r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Modular Salvage Harvesting: Individual functional testing of modular components before recycling.
</a:t>
            </a:r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Eliminates premature shredding of intact screens, batteries, and RAM.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38160" y="1737360"/>
            <a:ext cx="3337560" cy="45720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737360"/>
            <a:ext cx="3337560" cy="137160"/>
          </a:xfrm>
          <a:prstGeom prst="rect">
            <a:avLst/>
          </a:prstGeom>
          <a:solidFill>
            <a:srgbClr val="0C3B2E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057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Ecosystem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2651760"/>
            <a:ext cx="2788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Multi-role marketplace connecting Consumers, Refurbishers, and Recyclers.
</a:t>
            </a:r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Proximity Matching: Haversine distance engine discovers nearest certified facilities to cut transport carbon.
</a:t>
            </a:r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Sustainability Certificates with serial numbers verify diversion metrics.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11680" cy="54864"/>
          </a:xfrm>
          <a:prstGeom prst="rect">
            <a:avLst/>
          </a:prstGeom>
          <a:solidFill>
            <a:srgbClr val="24A17B"/>
          </a:solidFill>
          <a:ln w="12700">
            <a:solidFill>
              <a:srgbClr val="24A1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16636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E-Waste Crisis (62M+ Tonnes/Year)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Electronics are the fastest growing municipal waste stream worldwide.
</a:t>
            </a:r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Less than 22% of global e-waste is formally documented and recycled.
</a:t>
            </a:r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Toxic metals (Lead, Mercury, Cadmium) leach into groundwater upon landfill dumping.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16636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92024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of Diagnostic Intelligence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37960" y="242316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Consumers lack objective technical criteria to assess device condition.
</a:t>
            </a:r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Functional devices are classified as "broken junk" due to minor defects.
</a:t>
            </a:r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distinction between repairable faults and total hardware failure.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4206240"/>
            <a:ext cx="516636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38912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Premature Destruction of Reusable Parts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05840" y="489204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Devices sent for recycling are shredded as bulk scrap without disassembly.
</a:t>
            </a:r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Fully functional screens, memory, and processors are needlessly destroyed.
</a:t>
            </a:r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Severe shortage of authentic spare components for local electronics repair.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63640" y="4206240"/>
            <a:ext cx="516636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438912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Dealers &amp; Lack of Verification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537960" y="489204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reliance on uncertified informal scrap channels with unsafe burning.
</a:t>
            </a:r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Consumers and enterprises receive zero verified proof of safe recycling.
</a:t>
            </a:r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Inefficient long-distance transit causes unnecessary logistics carbon emissions.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11680" cy="54864"/>
          </a:xfrm>
          <a:prstGeom prst="rect">
            <a:avLst/>
          </a:prstGeom>
          <a:solidFill>
            <a:srgbClr val="24A17B"/>
          </a:solidFill>
          <a:ln w="12700">
            <a:solidFill>
              <a:srgbClr val="24A1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745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0F6B4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1847088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Multi-Criteria Condition Assessment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2194560"/>
            <a:ext cx="9326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 expert rule-based engine that evaluates battery, screen, power, and body health to categorize devices into 4 circular pathways: Reuse, Resell, Refurbish, or Recycle with automated reasoning.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0175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0F6B4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2990088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Component Salvage Extraction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3337560"/>
            <a:ext cx="9326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 secondary diagnostic tier for end-of-life electronics that isolates intact components (displays, RAM, keyboards) into a dedicated parts salvage marketplace before raw material shredding.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1605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0F6B4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4133088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Proximity Logistics Engine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28800" y="4480560"/>
            <a:ext cx="9326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coordinate-based distance calculation using the Haversine formula to match sellers with local certified recyclers and refurbishers, significantly reducing transit emissions.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516636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3035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0F6B4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828800" y="5276088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Digital Certification &amp; Compliance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828800" y="5623560"/>
            <a:ext cx="9326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unique serial-numbered Digital Certificates of Sustainability for completed recovery batches, providing tamper-evident audit trails for ESG reporting and circular economy incentives.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 vs. 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11680" cy="54864"/>
          </a:xfrm>
          <a:prstGeom prst="rect">
            <a:avLst/>
          </a:prstGeom>
          <a:solidFill>
            <a:srgbClr val="24A17B"/>
          </a:solidFill>
          <a:ln w="12700">
            <a:solidFill>
              <a:srgbClr val="24A1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16636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5166360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 (Conventional)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4617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Subjective Valuation: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Arbitrary informal pricing based on scrap weight rather than actual hardware condition.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Component Harvesting: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Intact functional sub-components (RAM, screens) are crushed and shredded into scrap.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Unregulated Disposal: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backyard dismantling and acid leaching creating toxic environmental hazards.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Verifiable Audit: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digital tracking, chain-of-custody records, or certificates for regulatory compliance.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Transport Footprint: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spatial discovery; electronics shipped across regions without proximity routing.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0F6B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37360"/>
            <a:ext cx="5166360" cy="59436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 (ReCircuit Platform)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2514600"/>
            <a:ext cx="4617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Algorithmic Diagnostic Engine: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multi-question diagnostics with instant classification (Reuse, Resell, Refurbish, Recycle).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Modular Salvage Marketplace: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and lists tested functional parts for local refurbishing before material recycling.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Certified Enterprise Partners: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vetted and verified refurbishers and recyclers can claim items.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Sustainability Certificates: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serial numbers verify diverted e-waste, mineral conservation, and audit trails.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Haversine Geospatial Discovery: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Pinpoint distance filtering connects sellers to local partners within custom km radii.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 &amp; 4-Phase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11680" cy="54864"/>
          </a:xfrm>
          <a:prstGeom prst="rect">
            <a:avLst/>
          </a:prstGeom>
          <a:solidFill>
            <a:srgbClr val="24A17B"/>
          </a:solidFill>
          <a:ln w="12700">
            <a:solidFill>
              <a:srgbClr val="24A1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2560320" cy="4572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202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F6B4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&amp; Registration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registers under designated role (Consumer/Seller, Refurbisher, Recycler).
• Item listing with category selection (Mobile, Laptop, Appliance).
• Automatic GPS latitude/longitude recording via Leaflet map picker.
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3447288" y="1737360"/>
            <a:ext cx="2560320" cy="4572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0168" y="19202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F6B4F"/>
          </a:solidFill>
          <a:ln/>
        </p:spPr>
      </p:sp>
      <p:sp>
        <p:nvSpPr>
          <p:cNvPr id="12" name="Text 10"/>
          <p:cNvSpPr/>
          <p:nvPr/>
        </p:nvSpPr>
        <p:spPr>
          <a:xfrm>
            <a:off x="3630168" y="1920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84448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Diagnostics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30168" y="32004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Category-specific diagnostic questions evaluated.
• Immediate disqualifier check triggers worst-case (Recycle) if critical hazard found.
• Threshold mapping: &gt;=80% Reuse, &gt;=60% Resell, &gt;=40% Refurbish, &lt;40% Recycle.
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163056" y="1737360"/>
            <a:ext cx="2560320" cy="4572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45936" y="19202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F6B4F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1920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0216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Salvage Audit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345936" y="32004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 Recycled items: compulsory sub-component integrity check.
• Individual components tested (Screen, Battery, RAM, Keyboard).
• Reusable parts published to Salvage Marketplace for circular parts resale.
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878824" y="1737360"/>
            <a:ext cx="2560320" cy="4572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61704" y="19202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F6B4F"/>
          </a:solidFill>
          <a:ln/>
        </p:spPr>
      </p:sp>
      <p:sp>
        <p:nvSpPr>
          <p:cNvPr id="22" name="Text 20"/>
          <p:cNvSpPr/>
          <p:nvPr/>
        </p:nvSpPr>
        <p:spPr>
          <a:xfrm>
            <a:off x="9061704" y="1920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15984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&amp; Fulfillment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061704" y="32004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Haversine distance ranking displays closest verified partners.
• State-machine tracking: Pending → Accepted → Completed.
• Official Digital Certificate of Sustainability generated upon completion.
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11680" cy="54864"/>
          </a:xfrm>
          <a:prstGeom prst="rect">
            <a:avLst/>
          </a:prstGeom>
          <a:solidFill>
            <a:srgbClr val="24A17B"/>
          </a:solidFill>
          <a:ln w="12700">
            <a:solidFill>
              <a:srgbClr val="24A1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6B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182880" cy="13716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288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PRESENTATION LAYER (Client)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040880" y="1828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React 19 • Vite 8 • Vanilla Tailwind v4 • React Router v7 • Leaflet Maps 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Responsive Single Page Application (SPA) designed to Google MD3 &amp; Sustainability aesthetic standards.  </a:t>
            </a:r>
            <a:endParaRPr lang="en-US" sz="15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Condition Assessment Wizard with real-time score feedback &amp; disqualifier alerts.  </a:t>
            </a:r>
            <a:endParaRPr lang="en-US" sz="15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Marketplace with category tabs, Haversine radius filters, and interactive map picker.  </a:t>
            </a:r>
            <a:endParaRPr lang="en-US" sz="15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Orders &amp; Logistics Hub with role-separated action controls &amp; digital certificate PDF preview.  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324612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C3B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246120"/>
            <a:ext cx="182880" cy="1371600"/>
          </a:xfrm>
          <a:prstGeom prst="rect">
            <a:avLst/>
          </a:prstGeom>
          <a:solidFill>
            <a:srgbClr val="0C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337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APPLICATION &amp; BUSINESS LOGIC LAYER (Server)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040880" y="3337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Node.js v24 • Express.js 4.21 • JWT Auth • Rule-Based Engine • Gemini Vision API 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Stateless RESTful API endpoints for auth, devices, diagnostics, salvage parts, and requests.  </a:t>
            </a:r>
            <a:endParaRPr lang="en-US" sz="15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Rule-Based Expert Diagnostic Classifier evaluating weighted questions and instant disqualifiers.  </a:t>
            </a:r>
            <a:endParaRPr lang="en-US" sz="15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Concurrency-Safe Claim Controller with PostgreSQL row-level locks preventing double-claims.  </a:t>
            </a:r>
            <a:endParaRPr lang="en-US" sz="15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State Machine Transition Guard: enforcing authorized status progression (Pending → Accepted → Completed).  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31520" y="475488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4A1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754880"/>
            <a:ext cx="182880" cy="1371600"/>
          </a:xfrm>
          <a:prstGeom prst="rect">
            <a:avLst/>
          </a:prstGeom>
          <a:solidFill>
            <a:srgbClr val="24A17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846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A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DATA &amp; PERSISTENCE LAYER (Database)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040880" y="4846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PostgreSQL Relational Database • pg Connection Pool • Foreign Key Constraints 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ACID-compliant relational schema storing users, categories, devices, responses, and requests.  </a:t>
            </a:r>
            <a:endParaRPr lang="en-US" sz="15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Parameterized queries ($1, $2, ...) completely preventing SQL injection vulnerabilities.  </a:t>
            </a:r>
            <a:endParaRPr lang="en-US" sz="15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Transactional operations (BEGIN / COMMIT / ROLLBACK) guaranteeing inventory integrity.  </a:t>
            </a:r>
            <a:endParaRPr lang="en-US" sz="15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Connection pooling via pg minimizing database connection overhead during high concurrency.  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Technology Stack &amp; Specifications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11680" cy="54864"/>
          </a:xfrm>
          <a:prstGeom prst="rect">
            <a:avLst/>
          </a:prstGeom>
          <a:solidFill>
            <a:srgbClr val="24A17B"/>
          </a:solidFill>
          <a:ln w="12700">
            <a:solidFill>
              <a:srgbClr val="24A1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F6B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5257800" cy="54864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STACK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Framework: </a:t>
            </a:r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19.2 (Latest Functional Components &amp; Hooks)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953512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Tooling: </a:t>
            </a:r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8.3 (Blazing fast HMR &amp; optimized production build)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3483864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Styling Architecture: </a:t>
            </a:r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 (Modern CSS variables, token design)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4014216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 Routing: </a:t>
            </a:r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DOM v7 (Declarative client-side routing)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544568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Mapping: </a:t>
            </a:r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1.9 + React-Leaflet 5.0 (GPS geo-picker)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5074920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Analytics Charts: </a:t>
            </a:r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3.10 (Responsive SVG metrics visualization)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5605272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Iconography: </a:t>
            </a:r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React-Icons 5.7 (Lucide &amp; Heroicons modern icon suite)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173736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C3B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737360"/>
            <a:ext cx="5257800" cy="548640"/>
          </a:xfrm>
          <a:prstGeom prst="rect">
            <a:avLst/>
          </a:prstGeom>
          <a:solidFill>
            <a:srgbClr val="0C3B2E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78308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DATABASE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423160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Runtime Environment: </a:t>
            </a:r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v24 LTS (Event-driven asynchronous I/O)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953512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Server Framework: </a:t>
            </a:r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 4.21 (Modular router, custom middleware)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3483864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 Engine: </a:t>
            </a:r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(ACID relational enterprise database)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4014216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 Connection Pool: </a:t>
            </a:r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node-postgres (pg 8.13 pool with connection pooling)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544568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Password Security: </a:t>
            </a:r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5.1 (One-way adaptive key hashing with salts)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5074920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Session Management: </a:t>
            </a:r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Web Token (JWT 9.0 with HMAC-SHA256 signatures)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5605272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Diagnostic Engine: </a:t>
            </a:r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1.5 Vision / Rule-Based Expert Classifier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Functional Features &amp;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11680" cy="54864"/>
          </a:xfrm>
          <a:prstGeom prst="rect">
            <a:avLst/>
          </a:prstGeom>
          <a:solidFill>
            <a:srgbClr val="24A17B"/>
          </a:solidFill>
          <a:ln w="12700">
            <a:solidFill>
              <a:srgbClr val="24A1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164592" cy="13716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Multi-Role RBAC Portal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26771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Role-isolated experiences for Consumers/Sellers, Refurbishers, Recyclers, and Admins with strict route guards.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737360"/>
            <a:ext cx="164592" cy="1371600"/>
          </a:xfrm>
          <a:prstGeom prst="rect">
            <a:avLst/>
          </a:prstGeom>
          <a:solidFill>
            <a:srgbClr val="0C3B2E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Dynamic Condition Questionnaire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226771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Category-tailored branching assessment evaluating power, display, casing, and hardware with disqualifiers.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246120"/>
            <a:ext cx="164592" cy="13716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383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Modular Salvage Marketplace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377647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Component-level harvesting for recycling-designated devices, publishing tested parts for refurbishing resale.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200" y="324612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246120"/>
            <a:ext cx="164592" cy="1371600"/>
          </a:xfrm>
          <a:prstGeom prst="rect">
            <a:avLst/>
          </a:prstGeom>
          <a:solidFill>
            <a:srgbClr val="0C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383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Haversine Logistics Matching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377647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Location-aware matching engine ranking candidate facilities by physical distance in km with radius filtering.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475488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754880"/>
            <a:ext cx="164592" cy="13716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892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State-Machine Orders Hub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528523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status lifecycle (Pending → Accepted → Completed) preventing invalid user state transitions.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475488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4754880"/>
            <a:ext cx="164592" cy="1371600"/>
          </a:xfrm>
          <a:prstGeom prst="rect">
            <a:avLst/>
          </a:prstGeom>
          <a:solidFill>
            <a:srgbClr val="0C3B2E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892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Digital Sustainability Certificates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92240" y="528523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certificates (RC-YYYY-XXXXXX) verifying diverted toxic minerals with print-to-PDF formatting.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Encryption &amp; Concurrency Control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11680" cy="54864"/>
          </a:xfrm>
          <a:prstGeom prst="rect">
            <a:avLst/>
          </a:prstGeom>
          <a:solidFill>
            <a:srgbClr val="24A17B"/>
          </a:solidFill>
          <a:ln w="12700">
            <a:solidFill>
              <a:srgbClr val="24A1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0195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6B4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01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One-Way Salted Password Hashing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51560" y="2267712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Passwords hashed using Bcrypt with 10 salt rounds before database persistence.
• Raw passwords are never logged, transmitted, or stored in plaintext.
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90195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6B4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901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18745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JWT Session Authentication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92240" y="2267712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HMAC-SHA256 tokens carrying cryptographically verified user claims and expiration.
• Authorization headers (Bearer &lt;token&gt;) validated on every private API route.
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41071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6B4F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3832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Role-Based Access Control (RBAC)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51560" y="3776472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Server-side middleware guards (authenticate &amp; authorize) prevent privilege escalation.
• Recyclers restricted to recycle e-waste; buyers blocked from self-accepting purchase orders.
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172200" y="324612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41071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6B4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33832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Parameterized SQL Injection Immunity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92240" y="3776472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of SQL queries executed through parameterized placeholders ($1, $2, ...).
• Completely isolates database query structure from user-supplied inputs.
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31520" y="475488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491947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6B4F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4919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48920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Row-Level Locking (Concurrency Safety)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051560" y="5285232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 SELECT ... FOR UPDATE used during claims to eliminate race conditions.
• Prevents multiple buyers from claiming the same device or component simultaneously.
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172200" y="475488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91947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6B4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919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12280" y="48920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&amp; Contact Masking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6492240" y="5285232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Seller and buyer email addresses masked on open marketplace listings.
• Contact details revealed strictly after an order is formally confirmed and accepted.
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 &amp; Relational Schema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11680" cy="54864"/>
          </a:xfrm>
          <a:prstGeom prst="rect">
            <a:avLst/>
          </a:prstGeom>
          <a:solidFill>
            <a:srgbClr val="24A17B"/>
          </a:solidFill>
          <a:ln w="12700">
            <a:solidFill>
              <a:srgbClr val="24A1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3840480" cy="4572000"/>
          </a:xfrm>
          <a:prstGeom prst="roundRect">
            <a:avLst>
              <a:gd name="adj" fmla="val 3571"/>
            </a:avLst>
          </a:prstGeom>
          <a:solidFill>
            <a:srgbClr val="0C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Principles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Referential Integrity: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foreign keys ensure clean dependency handling.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Atomic Claims: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constraints on (device_id, partner_id) and row locks prevent duplicate bookings.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Geospatial Support: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precision (lat, lng) enables efficient distance calculations.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Consistency: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constraints enforce valid roles and lifecycle states.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65836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92024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Relational Entities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0" y="2423160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[users]  </a:t>
            </a:r>
            <a:pPr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platform actors: id, name, email, password_hash, role (seller, recycler, refurbisher, admin), location, verified.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2953512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[categories]  </a:t>
            </a:r>
            <a:pPr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hardware device taxonomies: id, name (Mobile, Laptop, Home Appliance).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3483864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[devices]  </a:t>
            </a:r>
            <a:pPr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listings: id, user_id (FK), category_id (FK), brand, model, location, latitude, longitude, images, description.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4014216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[questions &amp; responses]  </a:t>
            </a:r>
            <a:pPr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engine rulebook: category_id, text, answer_type, good_answer, weight, is_disqualifier, section, display_order.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0640" y="4544568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[classifications]  </a:t>
            </a:r>
            <a:pPr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evaluation outcomes: id, device_id (FK), result (reuse, resell, refurbish, recycle), reasoning, score.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20640" y="5074920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[components &amp; classifications]  </a:t>
            </a:r>
            <a:pPr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salvage records: device_id (FK), component_id (FK), result, recommended_action, status, buyer_id (FK), price.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20640" y="5605272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[matches &amp; requests]  </a:t>
            </a:r>
            <a:pPr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logistics: device_id (FK), partner_id (FK), status (pending, accepted, completed, cancelled), updated_at.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Interface &amp; Workflow Screens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11680" cy="54864"/>
          </a:xfrm>
          <a:prstGeom prst="rect">
            <a:avLst/>
          </a:prstGeom>
          <a:solidFill>
            <a:srgbClr val="24A17B"/>
          </a:solidFill>
          <a:ln w="12700">
            <a:solidFill>
              <a:srgbClr val="24A1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3429000" cy="9144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Circular Impact Dashboard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Environmental Metrics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real-time diverted minerals (Lithium, Cobalt, Copper), Life-Cycle Extended points (XP), and active hardware listings.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61688" y="1737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1737360"/>
            <a:ext cx="3429000" cy="9144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1920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Diagnostic Assessment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44568" y="2240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Rule-Based Wizard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44568" y="256032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diagnostic questionnaire with visual hazard disqualifiers, calculating diagnostic health score out of 100.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91856" y="1737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91856" y="1737360"/>
            <a:ext cx="3429000" cy="9144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17" name="Text 15"/>
          <p:cNvSpPr/>
          <p:nvPr/>
        </p:nvSpPr>
        <p:spPr>
          <a:xfrm>
            <a:off x="8174736" y="1920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Modular Salvage Inspection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74736" y="2240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Integrity Testing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74736" y="256032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testing of individual parts (battery, screen, RAM) sorting reusable parts into salvage stock before recycling.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023360"/>
            <a:ext cx="3429000" cy="9144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06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Location-Aware Marketplace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4526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Dual-View Hardware Stream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84632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radius filtering, category filters, and role-isolated claiming (Recyclers see e-waste; buyers see reusable devices).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361688" y="4023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61688" y="4023360"/>
            <a:ext cx="3429000" cy="9144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27" name="Text 25"/>
          <p:cNvSpPr/>
          <p:nvPr/>
        </p:nvSpPr>
        <p:spPr>
          <a:xfrm>
            <a:off x="4544568" y="4206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Orders &amp; Logistics Hub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44568" y="4526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Role-Aware Order Progression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44568" y="484632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management for device pickups and component orders; sellers accept orders while buyers confirm receipt.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991856" y="4023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91856" y="4023360"/>
            <a:ext cx="3429000" cy="9144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2" name="Text 30"/>
          <p:cNvSpPr/>
          <p:nvPr/>
        </p:nvSpPr>
        <p:spPr>
          <a:xfrm>
            <a:off x="8174736" y="4206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 Sustainability Certificate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174736" y="4526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Recovery Verification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74736" y="484632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certificate with unique serial number (RC-YYYY-XXXXXX), verifying diverted weight and raw minerals with PDF export.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QUALITY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Methodology &amp; Execution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11680" cy="54864"/>
          </a:xfrm>
          <a:prstGeom prst="rect">
            <a:avLst/>
          </a:prstGeom>
          <a:solidFill>
            <a:srgbClr val="24A17B"/>
          </a:solidFill>
          <a:ln w="12700">
            <a:solidFill>
              <a:srgbClr val="24A1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6B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745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F6B4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84708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System Tests (100% Pass)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0" y="18470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test_e2e_full_lifecycle.js 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212848"/>
            <a:ext cx="9692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Executed 12 automated phases verifying full circular hardware journey.  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Validated auth, GPS device creation, questionnaire diagnostics, component salvage extraction, proximity search, atomic claim, and partner logistics.  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regressions across database transactions and API endpoints.  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6B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3832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F6B4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35584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Authorization &amp; State Integrity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0" y="3355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test_acceptance_roles.js 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721608"/>
            <a:ext cx="9692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Verified buyer cannot self-accept purchases (HTTP 403 Forbidden).  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Verified seller can accept purchase orders (HTTP 200 OK).  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Verified seller cannot accept recycling pickups (HTTP 403 Forbidden).  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Verified assigned recycler can accept e-waste pickup requests (HTTP 200 OK).  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475488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6B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892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F6B4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48646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Frontend Build Validation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0" y="48646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Vite Production Suite 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5230368"/>
            <a:ext cx="9692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 production bundle built cleanly in ~650ms via Vite &amp; Rollup.  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CSS preflight or utility collisions under Tailwind v4 engine.  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Average API response time &lt; 45ms under local database pooling.  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EVOLUTION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11680" cy="54864"/>
          </a:xfrm>
          <a:prstGeom prst="rect">
            <a:avLst/>
          </a:prstGeom>
          <a:solidFill>
            <a:srgbClr val="24A17B"/>
          </a:solidFill>
          <a:ln w="12700">
            <a:solidFill>
              <a:srgbClr val="24A1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16636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516636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4617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Simulated Payment Gateway: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Salvage parts transactions currently simulate payment transfers rather than live banking APIs.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Browser-Based Geolocation: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Relies on browser permissions or manual map selection rather than native GPS hardware.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Semi-Automated Diagnostics: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inspection relies on user-answered diagnostic questionnaires combined with visual analysis.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Shipping Agreements: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coordination currently operates via email/phone contact rather than integrated third-party courier dispatch.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F6B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37360"/>
            <a:ext cx="5166360" cy="54864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2514600"/>
            <a:ext cx="4617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Escrow Payment Gateway Integration: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Incorporate Stripe/Razorpay escrow holding payments until buyer confirms receipt of working parts.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IoT &amp; QR Parcel Tracking: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physical scannable QR labels for pickup boxes with real-time GPS courier delivery tracking.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Native Mobile Application: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React Native app with on-device camera ML inspection and barcode scanning for warehouse intake.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Blockchain ESG Carbon Credits: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verified carbon offset certificates on-chain for corporate enterprise sustainability compliance.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24A17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Technical Defense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0698480" cy="2377440"/>
          </a:xfrm>
          <a:prstGeom prst="roundRect">
            <a:avLst>
              <a:gd name="adj" fmla="val 5769"/>
            </a:avLst>
          </a:prstGeom>
          <a:solidFill>
            <a:srgbClr val="14453D"/>
          </a:solidFill>
          <a:ln w="19050">
            <a:solidFill>
              <a:srgbClr val="24A1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468880"/>
            <a:ext cx="9966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Environmental &amp; Economic Relevance: 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ReCircuit transforms e-waste from an ecological liability into valuable circular assets through intelligent diagnostics and modular parts salvage.
</a:t>
            </a:r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Architectural Rigor &amp; Reliability: 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robust PERN stack with ACID relational consistency, concurrency-safe row locks, role isolation, and clean state machine validation.
</a:t>
            </a:r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Production-Ready Execution: 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operational frontend, RESTful backend, and 100% passing end-to-end integration test suite.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84632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0A2D23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9834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55321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 from the Review Committee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15</Slides>
	<Notes>15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15</vt:i4></vt:variant>
		</vt:vector>
	</HeadingPairs>
	<TitlesOfParts>
		<vt:vector size="18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<vt:lpstr>Slide 15</vt:lpstr>
		</vt:vector>
	</TitlesOfParts>
	<Company>Department of Computer Science & Engineering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ReCircuit - Final Project Review Presentation</dc:title>
  <dc:subject>PptxGenJS Presentation</dc:subject>
  <dc:creator>ReCircuit Team</dc:creator>
  <cp:lastModifiedBy>ReCircuit Team</cp:lastModifiedBy>
  <cp:revision>1</cp:revision>
  <dcterms:created xsi:type="dcterms:W3CDTF">2026-10-13T13:20:53Z</dcterms:created>
  <dcterms:modified xsi:type="dcterms:W3CDTF">2026-10-13T13:20:53Z</dcterms:modified>
</cp:coreProperties>
</file>